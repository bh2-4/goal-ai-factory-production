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77724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A8C4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GOAI 世界人工智能开源大赛 · 无界应用赛道 · AI+工业制造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1234440"/>
            <a:ext cx="7863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Kit Pilot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214884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8C4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机加厂齐套核算与插单冲突解释智能体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58368" y="2788920"/>
            <a:ext cx="2011680" cy="0"/>
          </a:xfrm>
          <a:prstGeom prst="line">
            <a:avLst/>
          </a:prstGeom>
          <a:noFill/>
          <a:ln w="31750">
            <a:solidFill>
              <a:srgbClr val="2563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2971800"/>
            <a:ext cx="7315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E8EC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求解器负责算数、大模型负责说话：齐套核算、可行排产、被延订单的冲突解释与动作包，插单全链 30 秒。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397764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A8C4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◆ 插单冲突解释</a:t>
            </a:r>
            <a:pPr algn="l" indent="0" marL="0">
              <a:buNone/>
            </a:pPr>
            <a:r>
              <a:rPr lang="en-US" sz="1150" b="1" dirty="0">
                <a:solidFill>
                  <a:srgbClr val="A8C4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 ◆ LLM 零数值契约</a:t>
            </a:r>
            <a:pPr algn="l" indent="0" marL="0">
              <a:buNone/>
            </a:pPr>
            <a:r>
              <a:rPr lang="en-US" sz="1150" b="1" dirty="0">
                <a:solidFill>
                  <a:srgbClr val="A8C4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 ◆ 动作包交付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640080" y="461772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8C4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参赛作品 · 方案汇报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82296" cy="56692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10896"/>
            <a:ext cx="76809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632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场景与痛点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713232" y="768096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4A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插单的答案，不该靠电话和 Excel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246888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A8C4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234440"/>
            <a:ext cx="2468880" cy="6400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399032"/>
            <a:ext cx="24688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563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≥2h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777240" y="1984248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2D4A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一次插单评估耗时</a:t>
            </a:r>
            <a:endParaRPr lang="en-US" sz="110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2D4A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（Excel 核对+电话确认，假设口径）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337560" y="1234440"/>
            <a:ext cx="246888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A8C4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37560" y="1234440"/>
            <a:ext cx="2468880" cy="6400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1" name="Text 9"/>
          <p:cNvSpPr/>
          <p:nvPr/>
        </p:nvSpPr>
        <p:spPr>
          <a:xfrm>
            <a:off x="3337560" y="1399032"/>
            <a:ext cx="24688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563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T-1~2天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3474720" y="1984248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2D4A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缺料暴露时点</a:t>
            </a:r>
            <a:endParaRPr lang="en-US" sz="110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2D4A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（投产前才发现）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035040" y="1234440"/>
            <a:ext cx="246888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A8C4E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35040" y="1234440"/>
            <a:ext cx="2468880" cy="6400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5" name="Text 13"/>
          <p:cNvSpPr/>
          <p:nvPr/>
        </p:nvSpPr>
        <p:spPr>
          <a:xfrm>
            <a:off x="6035040" y="1399032"/>
            <a:ext cx="24688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563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说不清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6172200" y="1984248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2D4A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被延订单原因</a:t>
            </a:r>
            <a:endParaRPr lang="en-US" sz="110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2D4A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（销售与产线互相埋怨）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40080" y="2880360"/>
            <a:ext cx="7863840" cy="173736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A8C4E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0080" y="2880360"/>
            <a:ext cx="786384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9" name="Text 17"/>
          <p:cNvSpPr/>
          <p:nvPr/>
        </p:nvSpPr>
        <p:spPr>
          <a:xfrm>
            <a:off x="804672" y="3008376"/>
            <a:ext cx="753465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2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计划员的日常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41248" y="3355848"/>
            <a:ext cx="7479792" cy="11338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ts val="2000"/>
              </a:lnSpc>
              <a:buSzPct val="100000"/>
              <a:buChar char="•"/>
            </a:pPr>
            <a:r>
              <a:rPr lang="en-US" sz="1200" dirty="0">
                <a:solidFill>
                  <a:srgbClr val="2D4A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销售接急单 → 计划员翻 BOM 表、问仓库、问车间，两小时后才敢回“能不能做、几号交”</a:t>
            </a:r>
            <a:pPr algn="l" marL="342900" indent="-342900">
              <a:lnSpc>
                <a:spcPts val="2000"/>
              </a:lnSpc>
              <a:buSzPct val="100000"/>
              <a:buChar char="•"/>
            </a:pPr>
            <a:r>
              <a:rPr lang="en-US" sz="1200" dirty="0">
                <a:solidFill>
                  <a:srgbClr val="2D4A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开工前 1-2 天发现料不够，赶工、紧急采购、违约金三重代价叠加</a:t>
            </a:r>
            <a:pPr algn="l" marL="342900" indent="-342900">
              <a:lnSpc>
                <a:spcPts val="2000"/>
              </a:lnSpc>
              <a:buSzPct val="100000"/>
              <a:buChar char="•"/>
            </a:pPr>
            <a:r>
              <a:rPr lang="en-US" sz="1200" dirty="0">
                <a:solidFill>
                  <a:srgbClr val="2D4A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被延的订单没有解释，信任在销售与车间之间流失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503920" y="4663440"/>
            <a:ext cx="310896" cy="310896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22" name="Text 20"/>
          <p:cNvSpPr/>
          <p:nvPr/>
        </p:nvSpPr>
        <p:spPr>
          <a:xfrm>
            <a:off x="8503920" y="46634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82296" cy="56692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10896"/>
            <a:ext cx="76809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632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用户与全旅程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713232" y="768096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4A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四个角色，一条解释链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1143000"/>
            <a:ext cx="246888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A8C4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143000"/>
            <a:ext cx="246888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1271016"/>
            <a:ext cx="21396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2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计划员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41248" y="1618488"/>
            <a:ext cx="2084832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ts val="1600"/>
              </a:lnSpc>
              <a:buSzPct val="100000"/>
              <a:buChar char="•"/>
            </a:pPr>
            <a:r>
              <a:rPr lang="en-US" sz="1100" dirty="0">
                <a:solidFill>
                  <a:srgbClr val="2D4A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控制台主用户</a:t>
            </a:r>
            <a:pPr algn="l" marL="342900" indent="-342900">
              <a:lnSpc>
                <a:spcPts val="1600"/>
              </a:lnSpc>
              <a:buSzPct val="100000"/>
              <a:buChar char="•"/>
            </a:pPr>
            <a:r>
              <a:rPr lang="en-US" sz="1100" dirty="0">
                <a:solidFill>
                  <a:srgbClr val="2D4A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方案采纳者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337560" y="1143000"/>
            <a:ext cx="246888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A8C4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37560" y="1143000"/>
            <a:ext cx="2468880" cy="54864"/>
          </a:xfrm>
          <a:prstGeom prst="rect">
            <a:avLst/>
          </a:prstGeom>
          <a:solidFill>
            <a:srgbClr val="2D4A6B"/>
          </a:solidFill>
          <a:ln/>
        </p:spPr>
      </p:sp>
      <p:sp>
        <p:nvSpPr>
          <p:cNvPr id="11" name="Text 9"/>
          <p:cNvSpPr/>
          <p:nvPr/>
        </p:nvSpPr>
        <p:spPr>
          <a:xfrm>
            <a:off x="3502152" y="1271016"/>
            <a:ext cx="21396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2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销售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538728" y="1618488"/>
            <a:ext cx="2084832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ts val="1600"/>
              </a:lnSpc>
              <a:buSzPct val="100000"/>
              <a:buChar char="•"/>
            </a:pPr>
            <a:r>
              <a:rPr lang="en-US" sz="1100" dirty="0">
                <a:solidFill>
                  <a:srgbClr val="2D4A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CTP 问答端</a:t>
            </a:r>
            <a:pPr algn="l" marL="342900" indent="-342900">
              <a:lnSpc>
                <a:spcPts val="1600"/>
              </a:lnSpc>
              <a:buSzPct val="100000"/>
              <a:buChar char="•"/>
            </a:pPr>
            <a:r>
              <a:rPr lang="en-US" sz="1100" dirty="0">
                <a:solidFill>
                  <a:srgbClr val="2D4A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交期承诺方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035040" y="1143000"/>
            <a:ext cx="246888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A8C4E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35040" y="1143000"/>
            <a:ext cx="2468880" cy="54864"/>
          </a:xfrm>
          <a:prstGeom prst="rect">
            <a:avLst/>
          </a:prstGeom>
          <a:solidFill>
            <a:srgbClr val="A8C4E8"/>
          </a:solidFill>
          <a:ln/>
        </p:spPr>
      </p:sp>
      <p:sp>
        <p:nvSpPr>
          <p:cNvPr id="15" name="Text 13"/>
          <p:cNvSpPr/>
          <p:nvPr/>
        </p:nvSpPr>
        <p:spPr>
          <a:xfrm>
            <a:off x="6199632" y="1271016"/>
            <a:ext cx="21396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2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物控 / 采购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236208" y="1618488"/>
            <a:ext cx="2084832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ts val="1600"/>
              </a:lnSpc>
              <a:buSzPct val="100000"/>
              <a:buChar char="•"/>
            </a:pPr>
            <a:r>
              <a:rPr lang="en-US" sz="1100" dirty="0">
                <a:solidFill>
                  <a:srgbClr val="2D4A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缺口与请购包</a:t>
            </a:r>
            <a:pPr algn="l" marL="342900" indent="-342900">
              <a:lnSpc>
                <a:spcPts val="1600"/>
              </a:lnSpc>
              <a:buSzPct val="100000"/>
              <a:buChar char="•"/>
            </a:pPr>
            <a:r>
              <a:rPr lang="en-US" sz="1100" dirty="0">
                <a:solidFill>
                  <a:srgbClr val="2D4A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比价与下单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40080" y="2971800"/>
            <a:ext cx="1051560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A8C4E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6656" y="3026664"/>
            <a:ext cx="97840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1632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插单/变化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673352" y="3182112"/>
            <a:ext cx="3474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2002536" y="2971800"/>
            <a:ext cx="1051560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A8C4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039112" y="3026664"/>
            <a:ext cx="97840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1632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齐套核算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3035808" y="3182112"/>
            <a:ext cx="3474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3364992" y="2971800"/>
            <a:ext cx="1051560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A8C4E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01568" y="3026664"/>
            <a:ext cx="97840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1632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约束求解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4398264" y="3182112"/>
            <a:ext cx="3474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4727448" y="2971800"/>
            <a:ext cx="1051560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A8C4E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64024" y="3026664"/>
            <a:ext cx="97840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1632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冲突解释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760720" y="3182112"/>
            <a:ext cx="3474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6089904" y="2971800"/>
            <a:ext cx="1051560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A8C4E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126480" y="3026664"/>
            <a:ext cx="97840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1632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动作包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7123176" y="3182112"/>
            <a:ext cx="3474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7452360" y="2971800"/>
            <a:ext cx="1051560" cy="731520"/>
          </a:xfrm>
          <a:prstGeom prst="roundRect">
            <a:avLst>
              <a:gd name="adj" fmla="val 6250"/>
            </a:avLst>
          </a:prstGeom>
          <a:solidFill>
            <a:srgbClr val="FFF6EC"/>
          </a:solidFill>
          <a:ln w="20320">
            <a:solidFill>
              <a:srgbClr val="E8630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488936" y="3026664"/>
            <a:ext cx="97840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1632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计划签字 ◉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640080" y="397764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D4A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◉ = 宏门禁：计划采纳、交期承诺、替代料启用、供应商选择与下单，均由人签字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8503920" y="4663440"/>
            <a:ext cx="310896" cy="310896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36" name="Text 34"/>
          <p:cNvSpPr/>
          <p:nvPr/>
        </p:nvSpPr>
        <p:spPr>
          <a:xfrm>
            <a:off x="8503920" y="46634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82296" cy="56692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10896"/>
            <a:ext cx="76809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632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产品方案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713232" y="768096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4A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计划控制台 + 销售问答端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1188720"/>
            <a:ext cx="3840480" cy="3246120"/>
          </a:xfrm>
          <a:prstGeom prst="roundRect">
            <a:avLst>
              <a:gd name="adj" fmla="val 1690"/>
            </a:avLst>
          </a:prstGeom>
          <a:solidFill>
            <a:srgbClr val="FFFFFF"/>
          </a:solidFill>
          <a:ln w="12700">
            <a:solidFill>
              <a:srgbClr val="A8C4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188720"/>
            <a:ext cx="384048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1316736"/>
            <a:ext cx="35112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2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计划员控制台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41248" y="1664208"/>
            <a:ext cx="3456432" cy="26426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ts val="1800"/>
              </a:lnSpc>
              <a:buSzPct val="100000"/>
              <a:buChar char="•"/>
            </a:pPr>
            <a:r>
              <a:rPr lang="en-US" sz="1100" dirty="0">
                <a:solidFill>
                  <a:srgbClr val="2D4A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齐套看板：三层 BOM 展开 × 库存 × 在途（含供应商风险加权）</a:t>
            </a:r>
            <a:pPr algn="l" marL="342900" indent="-342900">
              <a:lnSpc>
                <a:spcPts val="1800"/>
              </a:lnSpc>
              <a:buSzPct val="100000"/>
              <a:buChar char="•"/>
            </a:pPr>
            <a:r>
              <a:rPr lang="en-US" sz="1100" dirty="0">
                <a:solidFill>
                  <a:srgbClr val="2D4A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插单 30 秒：可行排产 + 被延订单 + 逐单归因</a:t>
            </a:r>
            <a:pPr algn="l" marL="342900" indent="-342900">
              <a:lnSpc>
                <a:spcPts val="1800"/>
              </a:lnSpc>
              <a:buSzPct val="100000"/>
              <a:buChar char="•"/>
            </a:pPr>
            <a:r>
              <a:rPr lang="en-US" sz="1100" dirty="0">
                <a:solidFill>
                  <a:srgbClr val="2D4A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冲突解释：缺哪个料 / 哪台机满载 / 哪批在途有风险，每条可点开约束日志</a:t>
            </a:r>
            <a:pPr algn="l" marL="342900" indent="-342900">
              <a:lnSpc>
                <a:spcPts val="1800"/>
              </a:lnSpc>
              <a:buSzPct val="100000"/>
              <a:buChar char="•"/>
            </a:pPr>
            <a:r>
              <a:rPr lang="en-US" sz="1100" dirty="0">
                <a:solidFill>
                  <a:srgbClr val="2D4A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假设区：若明晨到货 200 件 → 计划 B（条件化推演）</a:t>
            </a:r>
            <a:pPr algn="l" marL="342900" indent="-342900">
              <a:lnSpc>
                <a:spcPts val="1800"/>
              </a:lnSpc>
              <a:buSzPct val="100000"/>
              <a:buChar char="•"/>
            </a:pPr>
            <a:r>
              <a:rPr lang="en-US" sz="1100" dirty="0">
                <a:solidFill>
                  <a:srgbClr val="2D4A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偏好库：手动调整三次的模式，提示转为显式规则（人确认）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709160" y="1188720"/>
            <a:ext cx="3794760" cy="1536192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A8C4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09160" y="1188720"/>
            <a:ext cx="3794760" cy="54864"/>
          </a:xfrm>
          <a:prstGeom prst="rect">
            <a:avLst/>
          </a:prstGeom>
          <a:solidFill>
            <a:srgbClr val="2D4A6B"/>
          </a:solidFill>
          <a:ln/>
        </p:spPr>
      </p:sp>
      <p:sp>
        <p:nvSpPr>
          <p:cNvPr id="11" name="Text 9"/>
          <p:cNvSpPr/>
          <p:nvPr/>
        </p:nvSpPr>
        <p:spPr>
          <a:xfrm>
            <a:off x="4873752" y="1316736"/>
            <a:ext cx="346557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2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销售 CTP 问答端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910328" y="1664208"/>
            <a:ext cx="3410712" cy="9326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ts val="1600"/>
              </a:lnSpc>
              <a:buSzPct val="100000"/>
              <a:buChar char="•"/>
            </a:pPr>
            <a:r>
              <a:rPr lang="en-US" sz="1100" dirty="0">
                <a:solidFill>
                  <a:srgbClr val="2D4A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自然语言问单：能不能接、几号交</a:t>
            </a:r>
            <a:pPr algn="l" marL="342900" indent="-342900">
              <a:lnSpc>
                <a:spcPts val="1600"/>
              </a:lnSpc>
              <a:buSzPct val="100000"/>
              <a:buChar char="•"/>
            </a:pPr>
            <a:r>
              <a:rPr lang="en-US" sz="1100" dirty="0">
                <a:solidFill>
                  <a:srgbClr val="2D4A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澄清品项/数量/交期/优先级</a:t>
            </a:r>
            <a:pPr algn="l" marL="342900" indent="-342900">
              <a:lnSpc>
                <a:spcPts val="1600"/>
              </a:lnSpc>
              <a:buSzPct val="100000"/>
              <a:buChar char="•"/>
            </a:pPr>
            <a:r>
              <a:rPr lang="en-US" sz="1100" dirty="0">
                <a:solidFill>
                  <a:srgbClr val="2D4A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输出条件化承诺草案（若料到→D 日）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709160" y="2898648"/>
            <a:ext cx="3794760" cy="1536192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A8C4E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709160" y="2898648"/>
            <a:ext cx="3794760" cy="54864"/>
          </a:xfrm>
          <a:prstGeom prst="rect">
            <a:avLst/>
          </a:prstGeom>
          <a:solidFill>
            <a:srgbClr val="A8C4E8"/>
          </a:solidFill>
          <a:ln/>
        </p:spPr>
      </p:sp>
      <p:sp>
        <p:nvSpPr>
          <p:cNvPr id="15" name="Text 13"/>
          <p:cNvSpPr/>
          <p:nvPr/>
        </p:nvSpPr>
        <p:spPr>
          <a:xfrm>
            <a:off x="4873752" y="3026664"/>
            <a:ext cx="346557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2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动作包（交付物）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910328" y="3374136"/>
            <a:ext cx="3410712" cy="9326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ts val="1600"/>
              </a:lnSpc>
              <a:buSzPct val="100000"/>
              <a:buChar char="•"/>
            </a:pPr>
            <a:r>
              <a:rPr lang="en-US" sz="1100" dirty="0">
                <a:solidFill>
                  <a:srgbClr val="2D4A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工单建议 + 请购单 + 比价矩阵</a:t>
            </a:r>
            <a:pPr algn="l" marL="342900" indent="-342900">
              <a:lnSpc>
                <a:spcPts val="1600"/>
              </a:lnSpc>
              <a:buSzPct val="100000"/>
              <a:buChar char="•"/>
            </a:pPr>
            <a:r>
              <a:rPr lang="en-US" sz="1100" dirty="0">
                <a:solidFill>
                  <a:srgbClr val="2D4A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交期承诺草案（条件化）</a:t>
            </a:r>
            <a:pPr algn="l" marL="342900" indent="-342900">
              <a:lnSpc>
                <a:spcPts val="1600"/>
              </a:lnSpc>
              <a:buSzPct val="100000"/>
              <a:buChar char="•"/>
            </a:pPr>
            <a:r>
              <a:rPr lang="en-US" sz="1100" dirty="0">
                <a:solidFill>
                  <a:srgbClr val="2D4A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不是一张表，是一组可执行动作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503920" y="4663440"/>
            <a:ext cx="310896" cy="310896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8" name="Text 16"/>
          <p:cNvSpPr/>
          <p:nvPr/>
        </p:nvSpPr>
        <p:spPr>
          <a:xfrm>
            <a:off x="8503920" y="46634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82296" cy="56692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10896"/>
            <a:ext cx="76809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632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AI 设计：数字与语言的契约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713232" y="768096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4A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大模型零数值计算，写进产品契约</a:t>
            </a:r>
            <a:endParaRPr lang="en-US" sz="11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234440"/>
          <a:ext cx="78638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017520"/>
                <a:gridCol w="301752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环节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8C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8C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8C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8C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机制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8C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8C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8C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8C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AI 是否参与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8C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8C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8C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8C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24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632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齐套核算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8C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8C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8C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8C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D4A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纯程序（BOM×库存×在途）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8C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8C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8C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8C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D4A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无（100% 可判卷）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8C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8C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8C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8C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632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排产求解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8C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8C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8C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8C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D4A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OR-Tools 约束求解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8C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8C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8C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8C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D4A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8C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8C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8C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8C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632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在途风险评分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8C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8C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8C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8C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D4A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规则（历史准时率+物流事件）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8C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8C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8C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8C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D4A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无（不监视）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8C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8C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8C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8C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632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约束澄清 / 冲突解释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8C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8C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8C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8C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D4A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大模型引用约束日志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8C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8C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8C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8C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D4A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生成（不改数）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8C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8C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8C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8C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632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假设区 / CTP 问答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8C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8C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8C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8C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D4A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大模型 + 求解器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8C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8C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8C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8C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D4A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对话（数字来自程序）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8C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8C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8C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8C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632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采纳 / 承诺 / 下单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8C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8C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8C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8C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D4A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人工门禁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8C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8C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8C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8C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D4A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8C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8C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8C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8C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420624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32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界面数字全部标注程序来源，可点开核对——“大模型算错数”这一质疑在契约层被排除。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8503920" y="4663440"/>
            <a:ext cx="310896" cy="310896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8" name="Text 5"/>
          <p:cNvSpPr/>
          <p:nvPr/>
        </p:nvSpPr>
        <p:spPr>
          <a:xfrm>
            <a:off x="8503920" y="46634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82296" cy="56692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10896"/>
            <a:ext cx="76809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632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 技术路线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713232" y="768096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4A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确定性归程序，解释性归模型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1188720"/>
            <a:ext cx="3840480" cy="3246120"/>
          </a:xfrm>
          <a:prstGeom prst="roundRect">
            <a:avLst>
              <a:gd name="adj" fmla="val 1690"/>
            </a:avLst>
          </a:prstGeom>
          <a:solidFill>
            <a:srgbClr val="FFFFFF"/>
          </a:solidFill>
          <a:ln w="12700">
            <a:solidFill>
              <a:srgbClr val="A8C4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188720"/>
            <a:ext cx="384048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1316736"/>
            <a:ext cx="35112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2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技术栈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41248" y="1664208"/>
            <a:ext cx="3456432" cy="26426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ts val="1900"/>
              </a:lnSpc>
              <a:buSzPct val="100000"/>
              <a:buChar char="•"/>
            </a:pPr>
            <a:r>
              <a:rPr lang="en-US" sz="1150" dirty="0">
                <a:solidFill>
                  <a:srgbClr val="2D4A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齐套引擎：MRP 逻辑纯程序实现，单元测试判卷</a:t>
            </a:r>
            <a:pPr algn="l" marL="342900" indent="-342900">
              <a:lnSpc>
                <a:spcPts val="1900"/>
              </a:lnSpc>
              <a:buSzPct val="100000"/>
              <a:buChar char="•"/>
            </a:pPr>
            <a:r>
              <a:rPr lang="en-US" sz="1150" dirty="0">
                <a:solidFill>
                  <a:srgbClr val="2D4A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求解器：OR-Tools flexible job-shop，输出可行解与约束违反日志</a:t>
            </a:r>
            <a:pPr algn="l" marL="342900" indent="-342900">
              <a:lnSpc>
                <a:spcPts val="1900"/>
              </a:lnSpc>
              <a:buSzPct val="100000"/>
              <a:buChar char="•"/>
            </a:pPr>
            <a:r>
              <a:rPr lang="en-US" sz="1150" dirty="0">
                <a:solidFill>
                  <a:srgbClr val="2D4A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约束日志：解释的唯一事实来源（哪条约束 / 谁占用 / 何时释放）</a:t>
            </a:r>
            <a:pPr algn="l" marL="342900" indent="-342900">
              <a:lnSpc>
                <a:spcPts val="1900"/>
              </a:lnSpc>
              <a:buSzPct val="100000"/>
              <a:buChar char="•"/>
            </a:pPr>
            <a:r>
              <a:rPr lang="en-US" sz="1150" dirty="0">
                <a:solidFill>
                  <a:srgbClr val="2D4A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生成层：冲突解释、假设标注、CTP 对话（仅引用日志与程序输出）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709160" y="1188720"/>
            <a:ext cx="3794760" cy="3246120"/>
          </a:xfrm>
          <a:prstGeom prst="roundRect">
            <a:avLst>
              <a:gd name="adj" fmla="val 1690"/>
            </a:avLst>
          </a:prstGeom>
          <a:solidFill>
            <a:srgbClr val="FFFFFF"/>
          </a:solidFill>
          <a:ln w="12700">
            <a:solidFill>
              <a:srgbClr val="A8C4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09160" y="1188720"/>
            <a:ext cx="3794760" cy="54864"/>
          </a:xfrm>
          <a:prstGeom prst="rect">
            <a:avLst/>
          </a:prstGeom>
          <a:solidFill>
            <a:srgbClr val="2D4A6B"/>
          </a:solidFill>
          <a:ln/>
        </p:spPr>
      </p:sp>
      <p:sp>
        <p:nvSpPr>
          <p:cNvPr id="11" name="Text 9"/>
          <p:cNvSpPr/>
          <p:nvPr/>
        </p:nvSpPr>
        <p:spPr>
          <a:xfrm>
            <a:off x="4873752" y="1316736"/>
            <a:ext cx="346557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2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解释的样子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910328" y="1664208"/>
            <a:ext cx="3410712" cy="26426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ts val="1900"/>
              </a:lnSpc>
              <a:buSzPct val="100000"/>
              <a:buChar char="•"/>
            </a:pPr>
            <a:r>
              <a:rPr lang="en-US" sz="1150" dirty="0">
                <a:solidFill>
                  <a:srgbClr val="2D4A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“订单 A 被推至下周三：</a:t>
            </a:r>
            <a:pPr algn="l" marL="342900" indent="-342900">
              <a:lnSpc>
                <a:spcPts val="1900"/>
              </a:lnSpc>
              <a:buSzPct val="100000"/>
              <a:buChar char="•"/>
            </a:pPr>
            <a:r>
              <a:rPr lang="en-US" sz="1150" dirty="0">
                <a:solidFill>
                  <a:srgbClr val="2D4A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缺 X 材料 200 件（在途 300，风险分 0.7）</a:t>
            </a:r>
            <a:pPr algn="l" marL="342900" indent="-342900">
              <a:lnSpc>
                <a:spcPts val="1900"/>
              </a:lnSpc>
              <a:buSzPct val="100000"/>
              <a:buChar char="•"/>
            </a:pPr>
            <a:r>
              <a:rPr lang="en-US" sz="1150" dirty="0">
                <a:solidFill>
                  <a:srgbClr val="2D4A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Y 机床本周满载（周四释放）</a:t>
            </a:r>
            <a:pPr algn="l" marL="342900" indent="-342900">
              <a:lnSpc>
                <a:spcPts val="1900"/>
              </a:lnSpc>
              <a:buSzPct val="100000"/>
              <a:buChar char="•"/>
            </a:pPr>
            <a:r>
              <a:rPr lang="en-US" sz="1150" dirty="0">
                <a:solidFill>
                  <a:srgbClr val="2D4A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替代方案：调序（换 Z 单）或催料（加急在途）</a:t>
            </a:r>
            <a:pPr algn="l" marL="342900" indent="-342900">
              <a:lnSpc>
                <a:spcPts val="1900"/>
              </a:lnSpc>
              <a:buSzPct val="100000"/>
              <a:buChar char="•"/>
            </a:pPr>
            <a:r>
              <a:rPr lang="en-US" sz="1150" dirty="0">
                <a:solidFill>
                  <a:srgbClr val="2D4A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假设区：若明晨 X 到货 → A 可回排至周五”</a:t>
            </a:r>
            <a:pPr algn="l" marL="342900" indent="-342900">
              <a:lnSpc>
                <a:spcPts val="1900"/>
              </a:lnSpc>
              <a:buSzPct val="100000"/>
              <a:buChar char="•"/>
            </a:pPr>
            <a:r>
              <a:rPr lang="en-US" sz="1150" dirty="0">
                <a:solidFill>
                  <a:srgbClr val="2D4A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——每一条都能点开日志核对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503920" y="4663440"/>
            <a:ext cx="310896" cy="310896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4" name="Text 12"/>
          <p:cNvSpPr/>
          <p:nvPr/>
        </p:nvSpPr>
        <p:spPr>
          <a:xfrm>
            <a:off x="8503920" y="46634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82296" cy="56692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10896"/>
            <a:ext cx="76809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632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 数据与合规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713232" y="768096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4A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模拟生成器开源，可复算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1188720"/>
            <a:ext cx="7863840" cy="164592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A8C4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188720"/>
            <a:ext cx="786384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1316736"/>
            <a:ext cx="753465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2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数据口径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41248" y="1664208"/>
            <a:ext cx="7479792" cy="1042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ts val="2000"/>
              </a:lnSpc>
              <a:buSzPct val="100000"/>
              <a:buChar char="•"/>
            </a:pPr>
            <a:r>
              <a:rPr lang="en-US" sz="1200" dirty="0">
                <a:solidFill>
                  <a:srgbClr val="2D4A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自建模拟生成器：BOM 三层 × 库存 × 在途（含风险分）× 订单 30-50 张 × 产能日历，字段与剧本全披露</a:t>
            </a:r>
            <a:pPr algn="l" marL="342900" indent="-342900">
              <a:lnSpc>
                <a:spcPts val="2000"/>
              </a:lnSpc>
              <a:buSzPct val="100000"/>
              <a:buChar char="•"/>
            </a:pPr>
            <a:r>
              <a:rPr lang="en-US" sz="1200" dirty="0">
                <a:solidFill>
                  <a:srgbClr val="2D4A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不接真实 ERP，不使用任何企业真实数据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3063240"/>
            <a:ext cx="786384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A8C4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3063240"/>
            <a:ext cx="7863840" cy="54864"/>
          </a:xfrm>
          <a:prstGeom prst="rect">
            <a:avLst/>
          </a:prstGeom>
          <a:solidFill>
            <a:srgbClr val="E8630A"/>
          </a:solidFill>
          <a:ln/>
        </p:spPr>
      </p:sp>
      <p:sp>
        <p:nvSpPr>
          <p:cNvPr id="11" name="Text 9"/>
          <p:cNvSpPr/>
          <p:nvPr/>
        </p:nvSpPr>
        <p:spPr>
          <a:xfrm>
            <a:off x="804672" y="3191256"/>
            <a:ext cx="753465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2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边界声明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41248" y="3538728"/>
            <a:ext cx="7479792" cy="8138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ts val="2000"/>
              </a:lnSpc>
              <a:buSzPct val="100000"/>
              <a:buChar char="•"/>
            </a:pPr>
            <a:r>
              <a:rPr lang="en-US" sz="1200" dirty="0">
                <a:solidFill>
                  <a:srgbClr val="2D4A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纯计划建议系统，不替代计划员专业判断（官方手册 9.3）；不写入真实 ERP</a:t>
            </a:r>
            <a:pPr algn="l" marL="342900" indent="-342900">
              <a:lnSpc>
                <a:spcPts val="2000"/>
              </a:lnSpc>
              <a:buSzPct val="100000"/>
              <a:buChar char="•"/>
            </a:pPr>
            <a:r>
              <a:rPr lang="en-US" sz="1200" dirty="0">
                <a:solidFill>
                  <a:srgbClr val="2D4A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计划采纳、交期承诺、替代料启用、下单均为人工门禁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503920" y="4663440"/>
            <a:ext cx="310896" cy="310896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4" name="Text 12"/>
          <p:cNvSpPr/>
          <p:nvPr/>
        </p:nvSpPr>
        <p:spPr>
          <a:xfrm>
            <a:off x="8503920" y="46634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82296" cy="56692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10896"/>
            <a:ext cx="76809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632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 评测与验证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713232" y="768096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4A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三个硬指标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246888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A8C4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234440"/>
            <a:ext cx="2468880" cy="6400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399032"/>
            <a:ext cx="24688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563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100%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777240" y="1984248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2D4A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齐套核算准确率</a:t>
            </a:r>
            <a:endParaRPr lang="en-US" sz="110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2D4A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（程序自动判卷）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337560" y="1234440"/>
            <a:ext cx="246888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A8C4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37560" y="1234440"/>
            <a:ext cx="2468880" cy="6400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1" name="Text 9"/>
          <p:cNvSpPr/>
          <p:nvPr/>
        </p:nvSpPr>
        <p:spPr>
          <a:xfrm>
            <a:off x="3337560" y="1399032"/>
            <a:ext cx="24688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563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3474720" y="1984248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2D4A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排产硬约束违反</a:t>
            </a:r>
            <a:endParaRPr lang="en-US" sz="110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2D4A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（求解器保证）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035040" y="1234440"/>
            <a:ext cx="246888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A8C4E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35040" y="1234440"/>
            <a:ext cx="2468880" cy="6400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5" name="Text 13"/>
          <p:cNvSpPr/>
          <p:nvPr/>
        </p:nvSpPr>
        <p:spPr>
          <a:xfrm>
            <a:off x="6035040" y="1399032"/>
            <a:ext cx="24688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563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≤30s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6172200" y="1984248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2D4A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插单全链响应</a:t>
            </a:r>
            <a:endParaRPr lang="en-US" sz="110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2D4A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（重算+求解+解释）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40080" y="2880360"/>
            <a:ext cx="7863840" cy="155448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A8C4E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0080" y="2880360"/>
            <a:ext cx="786384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9" name="Text 17"/>
          <p:cNvSpPr/>
          <p:nvPr/>
        </p:nvSpPr>
        <p:spPr>
          <a:xfrm>
            <a:off x="804672" y="3008376"/>
            <a:ext cx="753465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2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演示即验证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41248" y="3355848"/>
            <a:ext cx="7479792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ts val="2000"/>
              </a:lnSpc>
              <a:buSzPct val="100000"/>
              <a:buChar char="•"/>
            </a:pPr>
            <a:r>
              <a:rPr lang="en-US" sz="1200" dirty="0">
                <a:solidFill>
                  <a:srgbClr val="2D4A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现场插单：30 秒出方案 + 逐单解释 + 动作包；评委可自拟订单现场重跑</a:t>
            </a:r>
            <a:pPr algn="l" marL="342900" indent="-342900">
              <a:lnSpc>
                <a:spcPts val="2000"/>
              </a:lnSpc>
              <a:buSzPct val="100000"/>
              <a:buChar char="•"/>
            </a:pPr>
            <a:r>
              <a:rPr lang="en-US" sz="1200" dirty="0">
                <a:solidFill>
                  <a:srgbClr val="2D4A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对照实验：同一数据集下，延期订单数较 FIFO 基线下降 ≥15%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503920" y="4663440"/>
            <a:ext cx="310896" cy="310896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22" name="Text 20"/>
          <p:cNvSpPr/>
          <p:nvPr/>
        </p:nvSpPr>
        <p:spPr>
          <a:xfrm>
            <a:off x="8503920" y="46634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82296" cy="56692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10896"/>
            <a:ext cx="76809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632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 排期与开放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713232" y="768096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4A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从控制台到问答端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005840" y="1783080"/>
            <a:ext cx="7132320" cy="0"/>
          </a:xfrm>
          <a:prstGeom prst="line">
            <a:avLst/>
          </a:prstGeom>
          <a:noFill/>
          <a:ln w="19050">
            <a:solidFill>
              <a:srgbClr val="A8C4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12264" y="1700784"/>
            <a:ext cx="164592" cy="164592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1344168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初赛 8.16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1097280" y="1947672"/>
            <a:ext cx="21945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D4A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方案材料</a:t>
            </a:r>
            <a:endParaRPr lang="en-US" sz="10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D4A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（简介+本 PPT）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489704" y="1700784"/>
            <a:ext cx="164592" cy="164592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0" name="Text 8"/>
          <p:cNvSpPr/>
          <p:nvPr/>
        </p:nvSpPr>
        <p:spPr>
          <a:xfrm>
            <a:off x="3383280" y="1344168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复赛 9.3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3474720" y="1947672"/>
            <a:ext cx="21945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D4A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齐套+插单解释+请购包</a:t>
            </a:r>
            <a:endParaRPr lang="en-US" sz="10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D4A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一条链可运行（含 CTP 端）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867144" y="1700784"/>
            <a:ext cx="164592" cy="164592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3" name="Text 11"/>
          <p:cNvSpPr/>
          <p:nvPr/>
        </p:nvSpPr>
        <p:spPr>
          <a:xfrm>
            <a:off x="5760720" y="1344168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决赛 9.22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5852160" y="1947672"/>
            <a:ext cx="21945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D4A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交互推演：批量急单 /</a:t>
            </a:r>
            <a:endParaRPr lang="en-US" sz="10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D4A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假设区现场改条件重排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40080" y="3108960"/>
            <a:ext cx="7863840" cy="146304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A8C4E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3108960"/>
            <a:ext cx="786384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7" name="Text 15"/>
          <p:cNvSpPr/>
          <p:nvPr/>
        </p:nvSpPr>
        <p:spPr>
          <a:xfrm>
            <a:off x="804672" y="3236976"/>
            <a:ext cx="753465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2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开源与复用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41248" y="3584448"/>
            <a:ext cx="7479792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ts val="1900"/>
              </a:lnSpc>
              <a:buSzPct val="100000"/>
              <a:buChar char="•"/>
            </a:pPr>
            <a:r>
              <a:rPr lang="en-US" sz="1150" dirty="0">
                <a:solidFill>
                  <a:srgbClr val="2D4A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制造模拟数据生成器 ｜ 齐套核算引擎 ｜ 约束日志规范 ｜ 冲突解释模板 ｜ CTP 问答端组件</a:t>
            </a:r>
            <a:pPr algn="l" marL="342900" indent="-342900">
              <a:lnSpc>
                <a:spcPts val="1900"/>
              </a:lnSpc>
              <a:buSzPct val="100000"/>
              <a:buChar char="•"/>
            </a:pPr>
            <a:r>
              <a:rPr lang="en-US" sz="1150" dirty="0">
                <a:solidFill>
                  <a:srgbClr val="2D4A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中小机械/汽配厂可直接复用；与排产/ERP 系统松耦合集成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503920" y="4663440"/>
            <a:ext cx="310896" cy="310896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20" name="Text 18"/>
          <p:cNvSpPr/>
          <p:nvPr/>
        </p:nvSpPr>
        <p:spPr>
          <a:xfrm>
            <a:off x="8503920" y="46634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6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55448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Kit Pilot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233172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8C4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求解器算数，大模型说话，计划员签字。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3017520"/>
            <a:ext cx="7863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E8EC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数字可复算，解释可点开，交付是动作包。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E8EC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插单从两小时变成三十秒——省下的不是工时，是销售与车间之间的信任。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448056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8C4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GOAI 世界人工智能开源大赛 · 无界应用 · AI+工业制造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Kit Pilot——机加厂齐套核算与插单冲突解释智能体</dc:title>
  <dc:subject>PptxGenJS Presentation</dc:subject>
  <dc:creator>Kit Pilot</dc:creator>
  <cp:lastModifiedBy>Kit Pilot</cp:lastModifiedBy>
  <cp:revision>1</cp:revision>
  <dcterms:created xsi:type="dcterms:W3CDTF">2026-08-16T14:43:36Z</dcterms:created>
  <dcterms:modified xsi:type="dcterms:W3CDTF">2026-08-16T14:43:36Z</dcterms:modified>
</cp:coreProperties>
</file>